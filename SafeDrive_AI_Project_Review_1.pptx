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338" r:id="rId3"/>
    <p:sldId id="322" r:id="rId4"/>
    <p:sldId id="351" r:id="rId5"/>
    <p:sldId id="357" r:id="rId6"/>
    <p:sldId id="350" r:id="rId7"/>
    <p:sldId id="352" r:id="rId8"/>
    <p:sldId id="353" r:id="rId9"/>
    <p:sldId id="354" r:id="rId10"/>
    <p:sldId id="358" r:id="rId11"/>
    <p:sldId id="355" r:id="rId12"/>
    <p:sldId id="356" r:id="rId13"/>
    <p:sldId id="332" r:id="rId14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8"/>
    <p:restoredTop sz="95833"/>
  </p:normalViewPr>
  <p:slideViewPr>
    <p:cSldViewPr snapToGrid="0" snapToObjects="1">
      <p:cViewPr varScale="1">
        <p:scale>
          <a:sx n="79" d="100"/>
          <a:sy n="79" d="100"/>
        </p:scale>
        <p:origin x="64" y="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6171" cy="4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25-08-2026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25-08-2026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25-08-2026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25-08-2026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25-08-2026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25-08-2026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25-08-2026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25-08-2026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609" y="595713"/>
            <a:ext cx="10515600" cy="1100826"/>
          </a:xfr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/>
              <a:t>ENGINEERING CAPSTONE PROJECT – I</a:t>
            </a:r>
            <a:br/>
            <a:r>
              <a:rPr sz="1800" b="1"/>
              <a:t>INDUSTRIAL INTERNSHIP PHASE-I</a:t>
            </a:r>
            <a:br/>
            <a:r>
              <a:rPr sz="1800" b="1"/>
              <a:t>PROJECT REVIEW – 1</a:t>
            </a:r>
            <a:br/>
            <a:br/>
            <a:r>
              <a:rPr sz="1800" b="1"/>
              <a:t>SafeDrive AI: Intelligent Driver Monitoring and Medical Emergency Detection System Using Computer Vision</a:t>
            </a:r>
            <a:endParaRPr lang="en-US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2247" y="2265079"/>
            <a:ext cx="10515600" cy="1097555"/>
          </a:xfrm>
        </p:spPr>
        <p:txBody>
          <a:bodyPr wrap="square">
            <a:noAutofit/>
          </a:bodyPr>
          <a:lstStyle/>
          <a:p>
            <a:pPr marL="0" indent="0" algn="ctr">
              <a:buNone/>
            </a:pPr>
            <a:r>
              <a:rPr sz="1500" b="0" dirty="0"/>
              <a:t>Team Members</a:t>
            </a:r>
            <a:br>
              <a:rPr dirty="0"/>
            </a:br>
            <a:r>
              <a:rPr sz="1500" b="0" dirty="0"/>
              <a:t>1. Budha Archit – 2420030129</a:t>
            </a:r>
            <a:br>
              <a:rPr dirty="0"/>
            </a:br>
            <a:r>
              <a:rPr sz="1500" b="0" dirty="0"/>
              <a:t>2. </a:t>
            </a:r>
            <a:r>
              <a:rPr sz="1500" b="0" dirty="0" err="1"/>
              <a:t>Yeturi</a:t>
            </a:r>
            <a:r>
              <a:rPr sz="1500" b="0" dirty="0"/>
              <a:t> Neelesh – 2420030645</a:t>
            </a:r>
            <a:br>
              <a:rPr dirty="0"/>
            </a:br>
            <a:r>
              <a:rPr sz="1500" b="0" dirty="0"/>
              <a:t>3. Macharla Vikas – 2420030646</a:t>
            </a:r>
            <a:br>
              <a:rPr dirty="0"/>
            </a:br>
            <a:endParaRPr lang="en-US" dirty="0"/>
          </a:p>
          <a:p>
            <a:pPr marL="0" indent="0" algn="ctr">
              <a:buNone/>
            </a:pPr>
            <a:r>
              <a:rPr sz="1500" b="0" dirty="0"/>
              <a:t>Team No: </a:t>
            </a:r>
            <a:r>
              <a:rPr lang="en-US" sz="1500" dirty="0"/>
              <a:t>9</a:t>
            </a:r>
            <a:endParaRPr lang="en-US" sz="1500" b="0" dirty="0"/>
          </a:p>
          <a:p>
            <a:pPr marL="0" indent="0" algn="ctr">
              <a:buNone/>
            </a:pPr>
            <a:endParaRPr sz="1500" b="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61417" y="3943705"/>
            <a:ext cx="10515600" cy="180629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300" b="0" dirty="0"/>
              <a:t>Under the Guidance of</a:t>
            </a:r>
            <a:br>
              <a:rPr dirty="0"/>
            </a:br>
            <a:r>
              <a:rPr sz="1300" b="0" dirty="0"/>
              <a:t>Guide Name: —</a:t>
            </a:r>
            <a:r>
              <a:rPr lang="en-US" sz="1300" dirty="0"/>
              <a:t>Mrs. </a:t>
            </a:r>
            <a:r>
              <a:rPr lang="en-US" sz="1300" dirty="0" err="1"/>
              <a:t>V.Ramya</a:t>
            </a:r>
            <a:br>
              <a:rPr dirty="0"/>
            </a:br>
            <a:r>
              <a:rPr sz="1300" b="0" dirty="0"/>
              <a:t>Designation: </a:t>
            </a:r>
            <a:r>
              <a:rPr lang="en-US" sz="1300" b="0" dirty="0"/>
              <a:t>Assistant Professor</a:t>
            </a:r>
            <a:br>
              <a:rPr dirty="0"/>
            </a:br>
            <a:r>
              <a:rPr sz="1300" b="0" dirty="0"/>
              <a:t>Department of Computer Science and Engineering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95" y="5136862"/>
            <a:ext cx="2175809" cy="897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>
            <a:normAutofit/>
          </a:bodyPr>
          <a:lstStyle/>
          <a:p>
            <a:pPr algn="ctr"/>
            <a:r>
              <a:rPr sz="3200" b="1" dirty="0"/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endParaRPr lang="en-US" sz="2100" b="0" dirty="0"/>
          </a:p>
          <a:p>
            <a:pPr marL="0" indent="0">
              <a:buNone/>
            </a:pPr>
            <a:r>
              <a:rPr b="0" dirty="0"/>
              <a:t>Introduction</a:t>
            </a:r>
            <a:br>
              <a:rPr dirty="0"/>
            </a:br>
            <a:r>
              <a:rPr b="0" dirty="0"/>
              <a:t>Problem Statement</a:t>
            </a:r>
            <a:br>
              <a:rPr dirty="0"/>
            </a:br>
            <a:r>
              <a:rPr b="0" dirty="0"/>
              <a:t>Objectives</a:t>
            </a:r>
            <a:br>
              <a:rPr dirty="0"/>
            </a:br>
            <a:r>
              <a:rPr b="0" dirty="0"/>
              <a:t>Literature Survey</a:t>
            </a:r>
            <a:br>
              <a:rPr dirty="0"/>
            </a:br>
            <a:r>
              <a:rPr b="0" dirty="0"/>
              <a:t>Research Gap Identification</a:t>
            </a:r>
            <a:br>
              <a:rPr dirty="0"/>
            </a:br>
            <a:r>
              <a:rPr b="0" dirty="0"/>
              <a:t>Innovation, Creativity, and Novelty</a:t>
            </a:r>
            <a:br>
              <a:rPr dirty="0"/>
            </a:br>
            <a:r>
              <a:rPr b="0" dirty="0"/>
              <a:t>Feasibility and Project Plan</a:t>
            </a:r>
            <a:br>
              <a:rPr dirty="0"/>
            </a:br>
            <a:r>
              <a:rPr b="0" dirty="0"/>
              <a:t>Conclusion</a:t>
            </a:r>
            <a:br>
              <a:rPr dirty="0"/>
            </a:br>
            <a:r>
              <a:rPr b="0" dirty="0"/>
              <a:t>References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/>
              <a:t>REVIEW –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>
            <a:normAutofit/>
          </a:bodyPr>
          <a:lstStyle/>
          <a:p>
            <a:pPr algn="ctr"/>
            <a:r>
              <a:rPr sz="2800" b="1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 wrap="square">
            <a:normAutofit fontScale="92500" lnSpcReduction="20000"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dirty="0" err="1"/>
              <a:t>SafeDrive</a:t>
            </a:r>
            <a:r>
              <a:rPr dirty="0"/>
              <a:t> AI is an AI-powered driver monitoring and safety system designed to improve road safety by continuously </a:t>
            </a:r>
            <a:r>
              <a:rPr dirty="0" err="1"/>
              <a:t>analysing</a:t>
            </a:r>
            <a:r>
              <a:rPr dirty="0"/>
              <a:t> driver </a:t>
            </a:r>
            <a:r>
              <a:rPr dirty="0" err="1"/>
              <a:t>behaviour</a:t>
            </a:r>
            <a:r>
              <a:rPr dirty="0"/>
              <a:t> using computer vision.</a:t>
            </a:r>
            <a:br>
              <a:rPr dirty="0"/>
            </a:br>
            <a:br>
              <a:rPr dirty="0"/>
            </a:br>
            <a:r>
              <a:rPr dirty="0"/>
              <a:t>Driver fatigue, distraction, and delayed responses are major contributors to unsafe driving situations. The proposed system uses an in-cabin camera to </a:t>
            </a:r>
            <a:r>
              <a:rPr dirty="0" err="1"/>
              <a:t>analyse</a:t>
            </a:r>
            <a:r>
              <a:rPr dirty="0"/>
              <a:t> visual cues such as eye closure, blinking, yawning, head pose, facial </a:t>
            </a:r>
            <a:r>
              <a:rPr dirty="0" err="1"/>
              <a:t>behaviour</a:t>
            </a:r>
            <a:r>
              <a:rPr dirty="0"/>
              <a:t>, and mobile-phone usage.</a:t>
            </a:r>
            <a:br>
              <a:rPr dirty="0"/>
            </a:br>
            <a:br>
              <a:rPr dirty="0"/>
            </a:br>
            <a:r>
              <a:rPr dirty="0"/>
              <a:t>When unsafe </a:t>
            </a:r>
            <a:r>
              <a:rPr dirty="0" err="1"/>
              <a:t>behaviour</a:t>
            </a:r>
            <a:r>
              <a:rPr dirty="0"/>
              <a:t> is detected, the system provides real-time voice and dashboard alerts to regain the driver's attention. The system is also designed to support emergency detection and location-based notifications, with the long-term goal of integration into Advanced Driver Assistance Systems (ADAS) and embedded vehicle platforms.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24174-E81B-4768-8B99-C41881EF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2800" b="1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203-8F93-4071-A37C-6A9C3BB1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 marL="0" indent="0" algn="just">
              <a:buNone/>
              <a:defRPr/>
            </a:pPr>
            <a:r>
              <a:rPr dirty="0"/>
              <a:t>Existing driver-monitoring research has demonstrated effective detection of individual </a:t>
            </a:r>
            <a:r>
              <a:rPr dirty="0" err="1"/>
              <a:t>behaviours</a:t>
            </a:r>
            <a:r>
              <a:rPr dirty="0"/>
              <a:t> such as drowsiness and distraction, but many approaches are evaluated mainly on controlled or public datasets rather than under diverse real-world driving conditions.</a:t>
            </a:r>
            <a:br>
              <a:rPr dirty="0"/>
            </a:br>
            <a:br>
              <a:rPr dirty="0"/>
            </a:br>
            <a:r>
              <a:rPr dirty="0"/>
              <a:t>Current systems face challenges related to poor lighting, camera obstruction, driver variability, domain shift, false alerts, computational cost, and real-time processing latency. There is also a gap between high-performing experimental models and complete, deployable in-vehicle safety systems.</a:t>
            </a:r>
            <a:br>
              <a:rPr dirty="0"/>
            </a:br>
            <a:br>
              <a:rPr dirty="0"/>
            </a:br>
            <a:r>
              <a:rPr dirty="0"/>
              <a:t>Therefore, there is a need for a lightweight, non-intrusive, real-time driver monitoring system that combines multiple visual indicators, provides immediate safety alerts, and is evaluated using generalization, detection latency, false-alarm rate, and practical deployment as key measures.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5FB1-B28D-4C1B-A7FA-1B6AE4E2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42A5F-1F53-48C8-B0D9-C0201331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sz="1100" b="0"/>
              <a:t>REVIEW –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9634-64A3-451F-B3E1-F9F54FC1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9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/>
          <a:lstStyle/>
          <a:p>
            <a:pPr algn="ctr"/>
            <a:r>
              <a:rPr sz="2800" b="1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 wrap="square"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None/>
              <a:defRPr sz="1400"/>
            </a:pPr>
            <a:r>
              <a:rPr lang="en-US" dirty="0"/>
              <a:t>1. Develop an AI-based real-time driver monitoring system using computer vision.</a:t>
            </a:r>
          </a:p>
          <a:p>
            <a:pPr marL="0" indent="0">
              <a:spcAft>
                <a:spcPts val="500"/>
              </a:spcAft>
              <a:buNone/>
              <a:defRPr sz="1400"/>
            </a:pPr>
            <a:r>
              <a:rPr lang="en-US" dirty="0"/>
              <a:t>2. Detect fatigue and distraction using eye closure, blink rate, yawning, head movements and mobile-phone usage.</a:t>
            </a:r>
          </a:p>
          <a:p>
            <a:pPr marL="0" indent="0">
              <a:spcAft>
                <a:spcPts val="500"/>
              </a:spcAft>
              <a:buNone/>
              <a:defRPr sz="1400"/>
            </a:pPr>
            <a:r>
              <a:rPr lang="en-US" dirty="0"/>
              <a:t>3. Provide immediate safety alerts through voice notifications, dashboard warnings and event logging.</a:t>
            </a:r>
          </a:p>
          <a:p>
            <a:pPr marL="0" indent="0">
              <a:spcAft>
                <a:spcPts val="500"/>
              </a:spcAft>
              <a:buNone/>
              <a:defRPr sz="1400"/>
            </a:pPr>
            <a:r>
              <a:rPr lang="en-US" dirty="0"/>
              <a:t>4. Send emergency SMS notifications with the driver's location to predefined emergency contacts during critical situations.</a:t>
            </a:r>
          </a:p>
          <a:p>
            <a:pPr marL="0" indent="0">
              <a:spcAft>
                <a:spcPts val="500"/>
              </a:spcAft>
              <a:buNone/>
              <a:defRPr sz="1400"/>
            </a:pPr>
            <a:r>
              <a:rPr lang="en-US" dirty="0"/>
              <a:t>5. Improve </a:t>
            </a:r>
            <a:r>
              <a:rPr lang="en-US" dirty="0" err="1"/>
              <a:t>deployability</a:t>
            </a:r>
            <a:r>
              <a:rPr lang="en-US" dirty="0"/>
              <a:t> through lightweight, edge-suitable processing and real-time operational evaluation.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/>
          <a:lstStyle/>
          <a:p>
            <a:pPr algn="ctr"/>
            <a:r>
              <a:rPr sz="2800" b="1"/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 wrap="square"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100" b="0"/>
              <a:t>Five relevant papers reviewed from 2021–2026. The literature highlights drowsiness/distraction detection, multimodal cues, generalization, latency, privacy and real-world validation gaps.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64592" y="1783080"/>
          <a:ext cx="11841480" cy="4142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86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Research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50" b="1"/>
                      </a:pPr>
                      <a:r>
                        <a:t>DOI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Halin; Verly; Van Droogenbroeck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Survey and Synthesis of State of the Art in Driver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Sensors 21, 5558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State-of-art driver monitoring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Systematic survey; driver-state taxonomy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254-reference literature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Driver states; sensors; SAE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Maps drowsiness, workload, distraction, emotion, UTIW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Not exhaustive; no new DMS implementation/test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10.3390/s21165558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Essahraui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Real-Time Driver Drowsiness Detection Using Facial Analysis and Machine Learning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Sensors 25(3), 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Detect driver drowsiness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Haar+HOG; KNN/SVM/DT/RF; CNN; YOLOv5/v8; Faster R-CNN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NTHUDDD; YawDD; UTA-RLDD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Accuracy; precision; recall; F1; AUC/mAP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Multiple CV/ML approaches across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Generalization, multimodal data and real-time processing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10.3390/s25030812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Hossain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Automatic driver distraction detection using deep convolutional 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Intelligent Systems with Applications 14, 200075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Classify distracted behaviours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CNN; VGG-16; ResNet50; MobileNetV2; transfer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State Farm Distracted Driver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Accuracy; loss; 10 behaviour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Deep CNNs classify driver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Ideal public dataset; limited real-time road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10.1016/j.iswa.2022.200075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Qu; Dang; Furht; Nojoumian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Comprehensive study of driver behavior monitoring systems using computer vision and machine learning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Journal of Big Data 11,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Review CV/ML driver behaviour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ANN; CNN; RNN; face/hands/posture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State Farm; AUC; broader reviewed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Generalization; validation; privacy; 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Highlights memory/generalization and deployment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Need heterogeneous datasets, cross-validation and field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10.1186/s40537-024-00890-0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Hassan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Intelligent driver monitoring systems: a survey of drowsiness detection technologies for road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Artificial Intelligence Review 59, 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Systematic drowsiness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PRISMA; multimodal taxonomy; deployment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70 studies; 12 major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Ground truth; metrics; latency; domain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Unifies vision, physiological, telemetry and hybrid modalities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Scarce on-road studies; latency, privacy, bias, occlusion,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00" b="0"/>
                      </a:pPr>
                      <a:r>
                        <a:t>10.1007/s10462-026-11505-w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/>
          <a:lstStyle/>
          <a:p>
            <a:pPr algn="ctr"/>
            <a:r>
              <a:rPr sz="2800" b="1"/>
              <a:t>Research Gap Identification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1209961"/>
          </a:xfrm>
        </p:spPr>
        <p:txBody>
          <a:bodyPr wrap="square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100" b="0"/>
              <a:t>Recurring gaps identified across the five reviewed papers: generalization, real-world validation, environmental robustness, latency, privacy, dataset bias and deployment readiness.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471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760" b="1"/>
                      </a:pPr>
                      <a:r>
                        <a:t>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1"/>
                      </a:pPr>
                      <a: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1"/>
                      </a:pPr>
                      <a:r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1"/>
                      </a:pPr>
                      <a:r>
                        <a:t>Methodology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1"/>
                      </a:pPr>
                      <a: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1"/>
                      </a:pPr>
                      <a:r>
                        <a:t>Research Gap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Survey and Synthesis of State of the Art in Driver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Halin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Survey /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Organizes driver states and sensing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Not exhaustive; no new DMS implementation/test.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Real-Time Driver Drowsiness Detection Using Facial Analysis and Machine Learning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Essahraui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Facial analysis + ML/CV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Evaluates several methods across 3 drowsiness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Performance varies across datasets; stronger generalization and real-time processing needed.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Automatic driver distraction detection using deep convolutional 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Hossain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CNN / transfer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Classifies 10 distracted-driver behaviours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Public/ideal dataset; real-time road deployment remains limited.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Comprehensive study of driver behavior monitoring systems using computer vision and machine learning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Qu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ANN/CNN/RNN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Highlights generalization, privacy and field-validation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Need heterogeneous datasets, cross-validation and robust field validation.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Intelligent driver monitoring systems: a survey of drowsiness detection technologies for road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Hassan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PRISMA systematic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t>Unifies vision, physiological, telemetry and hybrid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60" b="0"/>
                      </a:pPr>
                      <a:r>
                        <a:rPr dirty="0"/>
                        <a:t>On-road studies scarce; latency, domain shift, privacy, bias and computational cost remain.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/>
          <a:lstStyle/>
          <a:p>
            <a:pPr algn="ctr"/>
            <a:r>
              <a:rPr sz="2500" b="1"/>
              <a:t>Innovation, Creativity, and Novelty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FC2A6-D5E1-4B0E-EBA1-4D4D15920815}"/>
              </a:ext>
            </a:extLst>
          </p:cNvPr>
          <p:cNvSpPr txBox="1"/>
          <p:nvPr/>
        </p:nvSpPr>
        <p:spPr>
          <a:xfrm>
            <a:off x="1180618" y="1858655"/>
            <a:ext cx="95931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300" b="0"/>
              <a:t>INNOVATION</a:t>
            </a:r>
            <a:br/>
            <a:r>
              <a:rPr sz="1300" b="0"/>
              <a:t>• Integrates driver-state monitoring into an ADAS-oriented real-time system instead of isolated offline classification.</a:t>
            </a:r>
            <a:br/>
            <a:r>
              <a:rPr sz="1300" b="0"/>
              <a:t>• Uses a non-intrusive in-cabin camera approach.</a:t>
            </a:r>
            <a:br/>
            <a:br/>
            <a:r>
              <a:rPr sz="1300" b="0"/>
              <a:t>CREATIVITY</a:t>
            </a:r>
            <a:br/>
            <a:r>
              <a:rPr sz="1300" b="0"/>
              <a:t>• Combines face/eye cues, head pose and hand/behaviour information.</a:t>
            </a:r>
            <a:br/>
            <a:r>
              <a:rPr sz="1300" b="0"/>
              <a:t>• Adds real-time voice/dashboard feedback, event logging and emergency alerting.</a:t>
            </a:r>
            <a:br/>
            <a:br/>
            <a:r>
              <a:rPr sz="1300" b="0"/>
              <a:t>NOVELTY</a:t>
            </a:r>
            <a:br/>
            <a:r>
              <a:rPr sz="1300" b="0"/>
              <a:t>• Lightweight edge-suitable processing with subject-independent/cross-dataset evaluation.</a:t>
            </a:r>
            <a:br/>
            <a:r>
              <a:rPr sz="1300" b="0"/>
              <a:t>• Validation under varied illumination, eyewear, demographics and real-world conditions, with on-device processing where possible.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/>
          <a:lstStyle/>
          <a:p>
            <a:pPr algn="ctr"/>
            <a:r>
              <a:rPr sz="2500" b="1"/>
              <a:t>Feasibility and Project Plan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</a:t>
            </a:r>
            <a:r>
              <a:rPr sz="1200" b="0" dirty="0"/>
              <a:t>-08-2026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0C162-AAFF-57D0-C6FC-922499511FB9}"/>
              </a:ext>
            </a:extLst>
          </p:cNvPr>
          <p:cNvSpPr txBox="1"/>
          <p:nvPr/>
        </p:nvSpPr>
        <p:spPr>
          <a:xfrm>
            <a:off x="994611" y="2009408"/>
            <a:ext cx="92242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0"/>
              <a:t>FEASIBILITY</a:t>
            </a:r>
            <a:br/>
            <a:r>
              <a:rPr sz="1300" b="0"/>
              <a:t>• Non-intrusive in-cabin camera approach supports computer-vision monitoring.</a:t>
            </a:r>
            <a:br/>
            <a:r>
              <a:rPr sz="1300" b="0"/>
              <a:t>• Lightweight/edge-oriented processing addresses reported latency and computational constraints.</a:t>
            </a:r>
            <a:br/>
            <a:r>
              <a:rPr sz="1300" b="0"/>
              <a:t>• Public datasets identified in the review can support initial evaluation; locally collected, consented samples are proposed for later validation.</a:t>
            </a:r>
            <a:br/>
            <a:r>
              <a:rPr sz="1300" b="0"/>
              <a:t>• Future deployment target: Raspberry Pi or automotive-grade embedded hardware.</a:t>
            </a:r>
            <a:br/>
            <a:br/>
            <a:r>
              <a:rPr sz="1300" b="0"/>
              <a:t>PROJECT PLAN</a:t>
            </a:r>
            <a:br/>
            <a:r>
              <a:rPr sz="1300" b="0"/>
              <a:t>1. Literature survey &amp; gap analysis → 2. System architecture → 3. Dataset preparation → 4. Driver-state model development → 5. Real-time alerts &amp; emergency pipeline → 6. Subject-independent/cross-dataset evaluation → 7. Embedded/vehicle test-bed validation.</a:t>
            </a:r>
          </a:p>
        </p:txBody>
      </p:sp>
    </p:spTree>
    <p:extLst>
      <p:ext uri="{BB962C8B-B14F-4D97-AF65-F5344CB8AC3E}">
        <p14:creationId xmlns:p14="http://schemas.microsoft.com/office/powerpoint/2010/main" val="289363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/>
          <a:lstStyle/>
          <a:p>
            <a:pPr algn="ctr"/>
            <a:r>
              <a:rPr sz="2800" b="1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 wrap="square">
            <a:normAutofit fontScale="92500" lnSpcReduction="20000"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dirty="0" err="1"/>
              <a:t>SafeDrive</a:t>
            </a:r>
            <a:r>
              <a:rPr dirty="0"/>
              <a:t> AI proposes a computer-vision-based approach for real-time monitoring of driver fatigue and distraction. By combining multiple visual cues such as eye </a:t>
            </a:r>
            <a:r>
              <a:rPr dirty="0" err="1"/>
              <a:t>behaviour</a:t>
            </a:r>
            <a:r>
              <a:rPr dirty="0"/>
              <a:t>, facial features, head movement, and driver activity, the system aims to provide earlier and more reliable warnings than approaches dependent on a single indicator.</a:t>
            </a:r>
            <a:br>
              <a:rPr dirty="0"/>
            </a:br>
            <a:br>
              <a:rPr dirty="0"/>
            </a:br>
            <a:r>
              <a:rPr dirty="0"/>
              <a:t>The proposed work addresses important limitations identified in existing research, particularly generalization, real-time performance, environmental variation, false alarms, and deployment constraints.</a:t>
            </a:r>
            <a:br>
              <a:rPr dirty="0"/>
            </a:br>
            <a:br>
              <a:rPr dirty="0"/>
            </a:br>
            <a:r>
              <a:rPr dirty="0"/>
              <a:t>The next phase will focus on system implementation, dataset development, model evaluation, real-time alert integration, and testing under varied driving conditions. The ultimate objective is to develop a practical safety solution that can be deployed on embedded vehicle platforms and extended toward ADAS integration and emergency response.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 wrap="square"/>
          <a:lstStyle/>
          <a:p>
            <a:pPr algn="ctr"/>
            <a:r>
              <a:rPr sz="2800" b="1"/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 wrap="square"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None/>
              <a:defRPr sz="1100"/>
            </a:pPr>
            <a:r>
              <a:t>[1] Halin, A., Verly, J. G., &amp; Van Droogenbroeck, M. (2021). Survey and Synthesis of State of the Art in Driver Monitoring. Sensors, 21, 5558. DOI: 10.3390/s21165558.</a:t>
            </a:r>
          </a:p>
          <a:p>
            <a:pPr>
              <a:spcAft>
                <a:spcPts val="500"/>
              </a:spcAft>
              <a:defRPr sz="1100"/>
            </a:pPr>
            <a:r>
              <a:t>[2] Essahraui, S., et al. (2025). Real-Time Driver Drowsiness Detection Using Facial Analysis and Machine Learning Techniques. Sensors, 25(3), 812. DOI: 10.3390/s25030812.</a:t>
            </a:r>
          </a:p>
          <a:p>
            <a:pPr>
              <a:spcAft>
                <a:spcPts val="500"/>
              </a:spcAft>
              <a:defRPr sz="1100"/>
            </a:pPr>
            <a:r>
              <a:t>[3] Hossain, M. U., et al. (2022). Automatic driver distraction detection using deep convolutional neural networks. Intelligent Systems with Applications, 14, 200075. DOI: 10.1016/j.iswa.2022.200075.</a:t>
            </a:r>
          </a:p>
          <a:p>
            <a:pPr>
              <a:spcAft>
                <a:spcPts val="500"/>
              </a:spcAft>
              <a:defRPr sz="1100"/>
            </a:pPr>
            <a:r>
              <a:t>[4] Qu, F., Dang, N., Furht, B., &amp; Nojoumian, M. (2024). Comprehensive study of driver behavior monitoring systems using computer vision and machine learning techniques. Journal of Big Data, 11, 32. DOI: 10.1186/s40537-024-00890-0.</a:t>
            </a:r>
          </a:p>
          <a:p>
            <a:pPr>
              <a:spcAft>
                <a:spcPts val="500"/>
              </a:spcAft>
              <a:defRPr sz="1100"/>
            </a:pPr>
            <a:r>
              <a:t>[5] Hassan, O. F., et al. (2026). Intelligent driver monitoring systems: a survey of drowsiness detection technologies for road safety. Artificial Intelligence Review, 59, 137. DOI: 10.1007/s10462-026-11505-w.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br/>
            <a:br/>
            <a:r>
              <a:rPr sz="3000" b="1"/>
              <a:t>THANK YOU</a:t>
            </a:r>
            <a:br/>
            <a:br/>
            <a:r>
              <a:rPr sz="3000" b="1"/>
              <a:t>SafeDrive</a:t>
            </a:r>
            <a:r>
              <a:rPr sz="3000" b="1" dirty="0"/>
              <a:t> AI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r>
              <a:rPr lang="en-US" dirty="0"/>
              <a:t>25-08-2026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wrap="square"/>
          <a:lstStyle/>
          <a:p>
            <a:r>
              <a:rPr sz="1100" b="0"/>
              <a:t>REVIEW –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1766</Words>
  <Application>Microsoft Office PowerPoint</Application>
  <PresentationFormat>Widescreen</PresentationFormat>
  <Paragraphs>181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Custom Design</vt:lpstr>
      <vt:lpstr>ENGINEERING CAPSTONE PROJECT – I INDUSTRIAL INTERNSHIP PHASE-I PROJECT REVIEW – 1  SafeDrive AI: Intelligent Driver Monitoring and Medical Emergency Detection System Using Computer Vision</vt:lpstr>
      <vt:lpstr>OUTLINE</vt:lpstr>
      <vt:lpstr>Introduction</vt:lpstr>
      <vt:lpstr>Problem Statement</vt:lpstr>
      <vt:lpstr>Objectives</vt:lpstr>
      <vt:lpstr>Literature Survey</vt:lpstr>
      <vt:lpstr>Research Gap Identification</vt:lpstr>
      <vt:lpstr>Innovation, Creativity, and Novelty</vt:lpstr>
      <vt:lpstr>Feasibility and Project Plan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vikas macharla</cp:lastModifiedBy>
  <cp:revision>194</cp:revision>
  <cp:lastPrinted>2025-06-24T13:51:00Z</cp:lastPrinted>
  <dcterms:created xsi:type="dcterms:W3CDTF">2022-05-20T10:20:00Z</dcterms:created>
  <dcterms:modified xsi:type="dcterms:W3CDTF">2026-08-25T08:52:58Z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8501A877F9FA4B8DAC5FC0ABD71A7E4E_12</vt:lpwstr>
  </property>
  <property fmtid="{D5CDD505-2E9C-101B-9397-08002B2CF9AE}" pid="3" name="KSOProductBuildVer">
    <vt:lpwstr>1033-12.2.0.23196</vt:lpwstr>
  </property>
</Properties>
</file>